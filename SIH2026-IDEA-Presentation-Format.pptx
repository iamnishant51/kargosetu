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B0D4"/>
    <a:srgbClr val="9BBB59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187259"/>
            <a:ext cx="8534400" cy="1265244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320317"/>
            <a:ext cx="5924550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b="1" dirty="0"/>
              <a:t>26006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b="1" dirty="0"/>
              <a:t>Development of an Intelligent Freight Forecasting Model for Optimized Vessel Chartering and Bulk Cargo Procurement from overseas to East Coast of India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1" dirty="0"/>
              <a:t>Transportation &amp; Logistics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661169"/>
            <a:ext cx="12191999" cy="4693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"A data-driven logistics platform transitioning SAIL from reactive spot-market chartering to optimized, medium-term bulk cargo contracts by integrating predictive</a:t>
            </a:r>
          </a:p>
          <a:p>
            <a:r>
              <a:rPr lang="en-US" sz="2000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     freight modeling with hardcoded physical port constraints.“</a:t>
            </a: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u="sng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Solution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u="sng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u="sng" dirty="0">
                <a:solidFill>
                  <a:srgbClr val="39B0D4"/>
                </a:solidFill>
                <a:latin typeface="Arial" pitchFamily="34" charset="0"/>
                <a:cs typeface="Arial" pitchFamily="34" charset="0"/>
              </a:rPr>
              <a:t> Explanation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u="sng" dirty="0">
                <a:latin typeface="Arial" pitchFamily="34" charset="0"/>
                <a:cs typeface="Arial" pitchFamily="34" charset="0"/>
              </a:rPr>
              <a:t>SAIL currently relies on daily, reactive market exploration for bulk cargo procurement, leading to missed cost-saving opportunities in a highly volatile global</a:t>
            </a:r>
          </a:p>
          <a:p>
            <a:r>
              <a:rPr lang="en-US" sz="1100" u="sng" dirty="0">
                <a:latin typeface="Arial" pitchFamily="34" charset="0"/>
                <a:cs typeface="Arial" pitchFamily="34" charset="0"/>
              </a:rPr>
              <a:t>     freight market.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u="sng" dirty="0">
                <a:latin typeface="Arial" pitchFamily="34" charset="0"/>
                <a:cs typeface="Arial" pitchFamily="34" charset="0"/>
              </a:rPr>
              <a:t>Without predictive insights, securing favorable short-to-medium-term multi-voyage contracts is nearly impossible, leaving the supply chain exposed to price spikes.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u="sng" dirty="0">
                <a:latin typeface="Arial" pitchFamily="34" charset="0"/>
                <a:cs typeface="Arial" pitchFamily="34" charset="0"/>
              </a:rPr>
              <a:t>Furthermore, chartering vessels without accounting for the specific infrastructural limits of East Coast Indian ports results in severe vessel idle time and </a:t>
            </a:r>
            <a:r>
              <a:rPr lang="en-US" sz="1100" u="sng" dirty="0" err="1">
                <a:latin typeface="Arial" pitchFamily="34" charset="0"/>
                <a:cs typeface="Arial" pitchFamily="34" charset="0"/>
              </a:rPr>
              <a:t>increasedlogistics</a:t>
            </a:r>
            <a:r>
              <a:rPr lang="en-US" sz="1100" u="sng" dirty="0">
                <a:latin typeface="Arial" pitchFamily="34" charset="0"/>
                <a:cs typeface="Arial" pitchFamily="34" charset="0"/>
              </a:rPr>
              <a:t> costs.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u="sng" dirty="0" err="1">
                <a:latin typeface="Arial" pitchFamily="34" charset="0"/>
                <a:cs typeface="Arial" pitchFamily="34" charset="0"/>
              </a:rPr>
              <a:t>SetuKargo</a:t>
            </a:r>
            <a:r>
              <a:rPr lang="en-US" sz="1100" u="sng" dirty="0">
                <a:latin typeface="Arial" pitchFamily="34" charset="0"/>
                <a:cs typeface="Arial" pitchFamily="34" charset="0"/>
              </a:rPr>
              <a:t> resolves this by providing a unified dashboard that calculates the exact optimal market entry timing and vessel type for specific cargo volumes and routes.</a:t>
            </a:r>
          </a:p>
          <a:p>
            <a:endParaRPr lang="en-US" sz="2000" u="sng" dirty="0">
              <a:solidFill>
                <a:srgbClr val="39B0D4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u="sng" dirty="0">
                <a:solidFill>
                  <a:srgbClr val="39B0D4"/>
                </a:solidFill>
                <a:latin typeface="Arial" pitchFamily="34" charset="0"/>
                <a:cs typeface="Arial" pitchFamily="34" charset="0"/>
              </a:rPr>
              <a:t>Innovation &amp; Uniqueness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u="sng" dirty="0">
                <a:latin typeface="Arial" pitchFamily="34" charset="0"/>
                <a:cs typeface="Arial" pitchFamily="34" charset="0"/>
              </a:rPr>
              <a:t>Dual-Layer Architecture: The model integrates an Operations Research "Constraint Engine" to filter physical limitations, followed by a Time-Series Machine Learning</a:t>
            </a:r>
          </a:p>
          <a:p>
            <a:r>
              <a:rPr lang="en-US" sz="1100" u="sng" dirty="0">
                <a:latin typeface="Arial" pitchFamily="34" charset="0"/>
                <a:cs typeface="Arial" pitchFamily="34" charset="0"/>
              </a:rPr>
              <a:t>   model (Prophet/</a:t>
            </a:r>
            <a:r>
              <a:rPr lang="en-US" sz="1100" u="sng" dirty="0" err="1">
                <a:latin typeface="Arial" pitchFamily="34" charset="0"/>
                <a:cs typeface="Arial" pitchFamily="34" charset="0"/>
              </a:rPr>
              <a:t>XGBoost</a:t>
            </a:r>
            <a:r>
              <a:rPr lang="en-US" sz="1100" u="sng" dirty="0">
                <a:latin typeface="Arial" pitchFamily="34" charset="0"/>
                <a:cs typeface="Arial" pitchFamily="34" charset="0"/>
              </a:rPr>
              <a:t>) for price forecasting.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u="sng" dirty="0">
                <a:latin typeface="Arial" pitchFamily="34" charset="0"/>
                <a:cs typeface="Arial" pitchFamily="34" charset="0"/>
              </a:rPr>
              <a:t>Hyper-Localized Rules: Unlike generic global trackers, </a:t>
            </a:r>
            <a:r>
              <a:rPr lang="en-US" sz="1100" u="sng" dirty="0" err="1">
                <a:latin typeface="Arial" pitchFamily="34" charset="0"/>
                <a:cs typeface="Arial" pitchFamily="34" charset="0"/>
              </a:rPr>
              <a:t>SetuKargo</a:t>
            </a:r>
            <a:r>
              <a:rPr lang="en-US" sz="1100" u="sng" dirty="0">
                <a:latin typeface="Arial" pitchFamily="34" charset="0"/>
                <a:cs typeface="Arial" pitchFamily="34" charset="0"/>
              </a:rPr>
              <a:t> actively prevents unviable charters by hardcoding exact draft and LOA restrictions for critical East</a:t>
            </a:r>
          </a:p>
          <a:p>
            <a:r>
              <a:rPr lang="en-US" sz="1100" u="sng" dirty="0">
                <a:latin typeface="Arial" pitchFamily="34" charset="0"/>
                <a:cs typeface="Arial" pitchFamily="34" charset="0"/>
              </a:rPr>
              <a:t>   Coast ports (e.g., Haldia vs. Paradip) prior to cost optimization.</a:t>
            </a: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8373</TotalTime>
  <Words>547</Words>
  <Application>Microsoft Office PowerPoint</Application>
  <PresentationFormat>Widescreen</PresentationFormat>
  <Paragraphs>73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Nishant Unawne</cp:lastModifiedBy>
  <cp:revision>149</cp:revision>
  <dcterms:created xsi:type="dcterms:W3CDTF">2013-12-12T18:46:50Z</dcterms:created>
  <dcterms:modified xsi:type="dcterms:W3CDTF">2026-08-31T10:01:52Z</dcterms:modified>
  <cp:category/>
</cp:coreProperties>
</file>